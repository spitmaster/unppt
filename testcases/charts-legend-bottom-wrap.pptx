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4"/>
                <c:pt idx="0">
                  <c:v>知情同意过程记录不规范</c:v>
                </c:pt>
                <c:pt idx="1">
                  <c:v>知情同意书签署保存不合规</c:v>
                </c:pt>
                <c:pt idx="2">
                  <c:v>知情同意书填写不完整</c:v>
                </c:pt>
                <c:pt idx="3">
                  <c:v>未提供给受试者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13</c:v>
                </c:pt>
                <c:pt idx="2">
                  <c:v>16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4B-4886-B137-988DE9A4F1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Sheet1!$A$2:$A$7</c:f>
              <c:strCache>
                <c:ptCount val="6"/>
                <c:pt idx="0">
                  <c:v>华东区域</c:v>
                </c:pt>
                <c:pt idx="1">
                  <c:v>华南</c:v>
                </c:pt>
                <c:pt idx="2">
                  <c:v>西北区域公司</c:v>
                </c:pt>
                <c:pt idx="3">
                  <c:v>东北</c:v>
                </c:pt>
                <c:pt idx="4">
                  <c:v>华中区域公司本部</c:v>
                </c:pt>
                <c:pt idx="5">
                  <c:v>西南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13</c:v>
                </c:pt>
                <c:pt idx="2">
                  <c:v>16</c:v>
                </c:pt>
                <c:pt idx="3">
                  <c:v>19</c:v>
                </c:pt>
                <c:pt idx="4">
                  <c:v>22</c:v>
                </c:pt>
                <c:pt idx="5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BC-4AE0-8C65-0526226399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Sheet1!$A$2:$A$10</c:f>
              <c:strCache>
                <c:ptCount val="9"/>
                <c:pt idx="0">
                  <c:v>项目1</c:v>
                </c:pt>
                <c:pt idx="1">
                  <c:v>项目2</c:v>
                </c:pt>
                <c:pt idx="2">
                  <c:v>项目3</c:v>
                </c:pt>
                <c:pt idx="3">
                  <c:v>项目4</c:v>
                </c:pt>
                <c:pt idx="4">
                  <c:v>项目5</c:v>
                </c:pt>
                <c:pt idx="5">
                  <c:v>项目6</c:v>
                </c:pt>
                <c:pt idx="6">
                  <c:v>项目7</c:v>
                </c:pt>
                <c:pt idx="7">
                  <c:v>项目8</c:v>
                </c:pt>
                <c:pt idx="8">
                  <c:v>项目9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</c:v>
                </c:pt>
                <c:pt idx="1">
                  <c:v>13</c:v>
                </c:pt>
                <c:pt idx="2">
                  <c:v>16</c:v>
                </c:pt>
                <c:pt idx="3">
                  <c:v>19</c:v>
                </c:pt>
                <c:pt idx="4">
                  <c:v>22</c:v>
                </c:pt>
                <c:pt idx="5">
                  <c:v>25</c:v>
                </c:pt>
                <c:pt idx="6">
                  <c:v>28</c:v>
                </c:pt>
                <c:pt idx="7">
                  <c:v>31</c:v>
                </c:pt>
                <c:pt idx="8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1-4EFE-A652-3A4D68BF8D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Sheet1!$A$2:$A$4</c:f>
              <c:strCache>
                <c:ptCount val="3"/>
                <c:pt idx="0">
                  <c:v>第一类项目</c:v>
                </c:pt>
                <c:pt idx="1">
                  <c:v>第二类项目</c:v>
                </c:pt>
                <c:pt idx="2">
                  <c:v>第三类项目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13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3E-4842-8ABA-FF93534065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知情同意过程记录不规范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1E-4D4F-821D-EFA851ABD4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知情同意书签署保存不合规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1E-4D4F-821D-EFA851ABD4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知情同意书填写不完整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41E-4D4F-821D-EFA851ABD4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未提供给受试者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41E-4D4F-821D-EFA851ABD4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1605919"/>
        <c:axId val="291606399"/>
      </c:barChart>
      <c:catAx>
        <c:axId val="291605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1606399"/>
        <c:crosses val="autoZero"/>
        <c:auto val="1"/>
        <c:lblAlgn val="ctr"/>
        <c:lblOffset val="100"/>
        <c:noMultiLvlLbl val="0"/>
      </c:catAx>
      <c:valAx>
        <c:axId val="291606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160591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华东区域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B0-4A88-BF67-69A531149E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华南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B0-4A88-BF67-69A531149E4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西北区域公司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B0-4A88-BF67-69A531149E4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东北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AB0-4A88-BF67-69A531149E4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华中区域公司本部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AB0-4A88-BF67-69A531149E45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西南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AB0-4A88-BF67-69A531149E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7558959"/>
        <c:axId val="287557999"/>
      </c:barChart>
      <c:catAx>
        <c:axId val="2875589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87557999"/>
        <c:crosses val="autoZero"/>
        <c:auto val="1"/>
        <c:lblAlgn val="ctr"/>
        <c:lblOffset val="100"/>
        <c:noMultiLvlLbl val="0"/>
      </c:catAx>
      <c:valAx>
        <c:axId val="2875579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875589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项目1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9B-42B4-BA0D-2A91636297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项目2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9B-42B4-BA0D-2A91636297E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项目3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9B-42B4-BA0D-2A91636297E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项目4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9B-42B4-BA0D-2A91636297E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项目5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9B-42B4-BA0D-2A91636297E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项目6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D9B-42B4-BA0D-2A91636297E7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项目7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Sheet1!$H$2</c:f>
              <c:numCache>
                <c:formatCode>General</c:formatCode>
                <c:ptCount val="1"/>
                <c:pt idx="0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D9B-42B4-BA0D-2A91636297E7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项目8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Sheet1!$I$2</c:f>
              <c:numCache>
                <c:formatCode>General</c:formatCode>
                <c:ptCount val="1"/>
                <c:pt idx="0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BD9B-42B4-BA0D-2A91636297E7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项目9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Sheet1!$J$2</c:f>
              <c:numCache>
                <c:formatCode>General</c:formatCode>
                <c:ptCount val="1"/>
                <c:pt idx="0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D9B-42B4-BA0D-2A91636297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3857791"/>
        <c:axId val="293858271"/>
      </c:barChart>
      <c:catAx>
        <c:axId val="293857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3858271"/>
        <c:crosses val="autoZero"/>
        <c:auto val="1"/>
        <c:lblAlgn val="ctr"/>
        <c:lblOffset val="100"/>
        <c:noMultiLvlLbl val="0"/>
      </c:catAx>
      <c:valAx>
        <c:axId val="2938582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93857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第一类项目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E3-4CF7-981C-72EB0AD58E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第二类项目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7E3-4CF7-981C-72EB0AD58E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第三类项目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分类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7E3-4CF7-981C-72EB0AD58E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4155712"/>
        <c:axId val="1625249392"/>
      </c:barChart>
      <c:catAx>
        <c:axId val="1624155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5249392"/>
        <c:crosses val="autoZero"/>
        <c:auto val="1"/>
        <c:lblAlgn val="ctr"/>
        <c:lblOffset val="100"/>
        <c:noMultiLvlLbl val="0"/>
      </c:catAx>
      <c:valAx>
        <c:axId val="16252493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24155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66B7FE-9D02-0F78-9AC6-7B96C3E29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DA0F0E-FFB8-FA25-83B0-A31C4F185F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04D369-2F7B-3299-CB38-63167858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B8A6E2-30C6-FDD0-EF9F-7C58695EC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0AF192-ADCF-D574-B490-F023D33D7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682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A8BE7-3D89-0BD3-E11B-339CA8254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BE7775-1BE8-D87E-6241-9F10A30C6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BE8665-C15C-2E86-9B21-5A5E4FEEC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73E1A0-4D01-FDFF-A8C6-13BB17FA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97317A-E73D-C4AA-64C3-58B42278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25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409C46-5A02-F473-520B-70C35C095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615550-C30A-8602-FEFD-0166CC592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CCC186-E47A-7154-D7B0-DCEA10E5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77480-D65F-B3C2-1577-EABD6E063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4C2D5B-1BD1-DF3E-C3EB-A8FE3C3A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36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5CD55-7FE5-06CC-AFF4-79A727C8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B9620F-AB70-B1FF-D4E1-71CDC419C9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FC8908-D23B-B67C-79B8-77C9C91B8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8745A3-60DA-54A7-B9B1-E843B7FE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034EEF-40A2-A2D5-26B7-01D66CF2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939AC1-5E8F-30CD-B0C5-5FEDB6AE7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953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89783-2126-65CF-9DC2-3F98BA68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C4CC27-B3AD-FC51-A18B-BB034B5D3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CCA681-E872-F85E-70A4-7B8082EEB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FA35CBB-4DC0-8FF7-3141-DC522107D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C3DD04-6DC2-B9A8-4A6F-9B323DFB7B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70380F-4E75-A9F1-362B-34626E7DD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484313-2AF1-443E-BE57-E8AF8B5F1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CC76F41-0FA8-969D-2D63-234DF1344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66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F9022-F45C-A54C-E0C4-CB408DE9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4DA772F-B0ED-3F93-2045-0A669692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7CB90BE-BDB8-7BC4-6430-0716C69D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EB57C1-5E8D-D1DE-FA00-3B34C031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942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7F0BDC-9AA5-0439-3BB6-719F8467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A8C042-30C2-534F-32FC-3D6C28D5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D8A1E9-3CDD-039F-C081-E2842F7E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44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8E26B7-07EE-1AFD-941A-CBA926C0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8ABCF1-E8EF-44C1-10A1-F5D81FBE74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622EDB-4FCF-0CAE-379D-E23977515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A7CA29-1586-638B-196D-5511FD65B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798DBB-C240-CAC1-04F8-F2524997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4F4592-D22A-D3C2-943C-3F2A1B087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14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04ED7F-409C-3359-E108-6BABB6E7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56A699-5CAB-2FBA-A0F0-9B542A708C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5B696B-24E8-E8A3-8880-857DD03971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4456FE-2432-6889-4761-4406DB931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FD3282-D35A-0344-0C38-5EDAE048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AE37F8-DCD8-C09B-DB15-F257122C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814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A15B5-5FC2-18B5-4785-E8E8FBC44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762D92-B4D3-248C-838F-874417FE0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E65936-1D8E-740D-F6BB-4D29523DB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80EF40-6286-B5E7-5F48-F5C65BD7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7F8CEA-8FEF-926F-9167-2EFE9BDE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370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C1AE2D9-A8A7-0D9A-DA72-939B118AB5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14789D-169F-D0CE-60A3-947B2951E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E2F83-A222-6127-7910-98AD22DA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C9E358-5255-3760-0E61-3A65ABCAB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624EF4-875B-C6F9-50D2-DCDC49F35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70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5B8431-4E4D-E75E-5613-88F6A771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760447-78A5-CA53-6637-5F8363937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DE4646-A4FE-52E3-D6E5-A7B87A804E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B134F6-507F-41FF-82A2-E30A4EEC59C4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496378-CB35-2F4C-98E3-3ECF701389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8DA73-1F06-C641-E9F7-424AA467A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3FD43-FA57-4266-A7B1-2E17467D71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57F3A198-EDC6-3495-3F2A-0F24A69682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6550362"/>
              </p:ext>
            </p:extLst>
          </p:nvPr>
        </p:nvGraphicFramePr>
        <p:xfrm>
          <a:off x="127000" y="127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F9806F99-9EFD-B8BC-7916-FE28018FF3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409377"/>
              </p:ext>
            </p:extLst>
          </p:nvPr>
        </p:nvGraphicFramePr>
        <p:xfrm>
          <a:off x="6096000" y="127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FB040CF3-3B45-D2C5-683F-D26A5DF52C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2515317"/>
              </p:ext>
            </p:extLst>
          </p:nvPr>
        </p:nvGraphicFramePr>
        <p:xfrm>
          <a:off x="127000" y="3429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5CBBA733-808B-EEF7-B7FB-030C8C0066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8913745"/>
              </p:ext>
            </p:extLst>
          </p:nvPr>
        </p:nvGraphicFramePr>
        <p:xfrm>
          <a:off x="6096000" y="3429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6619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24C92EED-4CB8-9D87-1ED3-B1AF46F09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7817366"/>
              </p:ext>
            </p:extLst>
          </p:nvPr>
        </p:nvGraphicFramePr>
        <p:xfrm>
          <a:off x="127000" y="127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4F89A75-6749-756D-495E-8E1958251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3507896"/>
              </p:ext>
            </p:extLst>
          </p:nvPr>
        </p:nvGraphicFramePr>
        <p:xfrm>
          <a:off x="6096000" y="127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F95FD602-72C7-E205-3E5D-DCD2AE57C3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9572233"/>
              </p:ext>
            </p:extLst>
          </p:nvPr>
        </p:nvGraphicFramePr>
        <p:xfrm>
          <a:off x="127000" y="3429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9318F467-92F1-479A-4F81-231F0C0C84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7401714"/>
              </p:ext>
            </p:extLst>
          </p:nvPr>
        </p:nvGraphicFramePr>
        <p:xfrm>
          <a:off x="6096000" y="3429000"/>
          <a:ext cx="3810000" cy="279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455190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2026-10-20T17:47:44Z</dcterms:created>
  <dcterms:modified xsi:type="dcterms:W3CDTF">2026-10-20T17:47:44Z</dcterms:modified>
</cp:coreProperties>
</file>