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411EA-75B9-0376-F1A1-8B235EC90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5663A0-9DFA-456A-3ED2-31DEDC9F8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94B078-9E8C-BD86-47CA-5C265897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03872-EA60-50DD-0154-BBD1122A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A9389B-492B-6572-295D-7702818B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5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0ECA8-F447-EB09-8ED3-F7BF3E0E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CF644-A01A-1E03-785E-7D692B1EE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15DEA-F409-2B87-4565-3C67452B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335C1-2F67-F461-2940-9F639434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31CDC3-2AE3-9539-EF27-374C5875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25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AC4D6-F9A2-27BA-92C2-7E277A75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07FE2C-D85C-C338-C9AA-8FF8A1C1C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D62226-FE73-C04A-3CB5-AF0AE4E3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718A8-D586-FC6B-560A-BAEF3909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D13FA-38AC-CF18-9C69-3969D2BC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14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516BD-3B74-931E-04AB-AA1D21CD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C9A7D-BC42-202D-BFBB-6BE719FB0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60FAD3-8664-A3A5-EB8D-ECFE63F8B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7B00D0-0894-09FA-4BBB-C415C02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DCA0E1-5ED8-5F7D-B6DB-0D02ED62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991155-9AE8-8034-AA28-C541B698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15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BD54C-00AE-6F3B-FC20-3F63920A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9E4970-0A49-A886-3C6A-872075196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25EBE9-3279-17FD-6DD1-CF92B9957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7D74CF-DC81-73F9-91E7-5466F8D53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CCB952-DE01-11F5-B5FE-844A27524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0DC344-EB17-198F-77CE-A5DDA0F8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FD78AF-C49D-B611-B4C6-FFF71F59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22EEEE-CA5B-372B-4A3E-08B56457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16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D64BE-AFFD-414A-DD48-ACCB50BF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55D863-06FE-E51B-E00B-BBBFB895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F93BB7-4125-93D6-EF25-F3DFE6F7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0B6933-A9B7-2D78-CE41-944BD551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13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7FB59-8E07-D33C-8528-BCAEDF5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847CEA-7FF6-AE2D-E1CB-1ED4FC1B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868F2-922E-BAC7-CA26-377631F1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77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9B3C5-3E42-EB1B-7F67-20A351A2D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B0BD34-B609-6D68-A2BF-5A2D73412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65B513-7C13-C13E-8D11-3CA55BFBD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B8C9E3-F360-602E-2433-FCA85A83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657E72-2730-849E-3980-31A9699A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74F068-91E1-ABD1-F0B8-BAB3D730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19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F5BC4-18CD-638F-5298-744D7502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B52CB2-9269-7DB6-CC2A-8A5E18E72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A001D3-38A4-210F-0130-AB0323252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CFF5A4-D927-3EB8-F675-1A36CA12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67E4D7-07F4-8CD8-EEDC-063FFD69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FBDFFD-E6D3-7921-3E9A-DFF5A774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76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5AF4B-021C-A6A6-BBC3-8F8ECD27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F63D86-EC92-003C-D7FF-C60DC577B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3C1A5-808E-BEF8-B30D-AF44F0CA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78AA2-612F-ED88-68FA-DCFC0582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1AA5C4-24A0-FFFF-96FB-42621670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47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561959-153B-F086-FA39-FC69DF368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31A565-EDD2-AAD1-E73E-54D2F56EE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9D6E4-488C-73DB-D21E-FEACF8CB2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381C78-5B70-7402-AB79-61ECD020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1B942-88BF-3A71-0378-8C19E020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20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BBD01A-FA71-A180-F9A4-366D0515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5614AB-F9A4-01BF-DD14-06F61E922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6EA67-6C0D-4662-7487-652445DAC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38806-5716-4616-ABA4-92F9E4B0AB4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6E976-8615-7709-404E-EC7A4E55D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0C1F4B-B653-CDAE-C6B5-F2257A172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27217-2C3F-4147-8C85-0C04EF97F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90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D10174-A0FC-A8FE-F611-D2CC1925103B}"/>
              </a:ext>
            </a:extLst>
          </p:cNvPr>
          <p:cNvSpPr txBox="1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第三章  </a:t>
            </a:r>
            <a:r>
              <a:rPr lang="en-US" altLang="zh-CN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2024 </a:t>
            </a:r>
            <a:r>
              <a:rPr lang="zh-CN" altLang="en-US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Q3 </a:t>
            </a:r>
            <a:r>
              <a:rPr lang="zh-CN" altLang="en-US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经营分析报告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820299-A61A-3FDF-FB54-4C7FC85A7C87}"/>
              </a:ext>
            </a:extLst>
          </p:cNvPr>
          <p:cNvSpPr txBox="1"/>
          <p:nvPr/>
        </p:nvSpPr>
        <p:spPr>
          <a:xfrm>
            <a:off x="508000" y="1143000"/>
            <a:ext cx="5461000" cy="254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本季度营收同比增长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18.6%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，其中线上渠道贡献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62%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。用户规模突破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1,250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万，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ARPU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提升至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¥36.8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，客户满意度（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NPS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）达到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47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分。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DAB499-29A0-AED9-9DEE-FA2B568C86E9}"/>
              </a:ext>
            </a:extLst>
          </p:cNvPr>
          <p:cNvSpPr txBox="1"/>
          <p:nvPr/>
        </p:nvSpPr>
        <p:spPr>
          <a:xfrm>
            <a:off x="6223000" y="1143000"/>
            <a:ext cx="5461000" cy="254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marL="342900" indent="-342900">
              <a:buFont typeface="+mj-lt"/>
              <a:buChar char="•"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核心指标全面达成</a:t>
            </a:r>
          </a:p>
          <a:p>
            <a:pPr marL="342900" indent="-342900">
              <a:buFont typeface="+mj-lt"/>
              <a:buChar char="•"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新产品线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AI Assistant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上线</a:t>
            </a:r>
          </a:p>
          <a:p>
            <a:pPr marL="342900" indent="-342900">
              <a:buFont typeface="+mj-lt"/>
              <a:buChar char="•"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华东、华南区域增长超过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25%</a:t>
            </a:r>
          </a:p>
          <a:p>
            <a:pPr marL="342900" indent="-342900">
              <a:buFont typeface="+mj-lt"/>
              <a:buChar char="•"/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下季度重点：海外市场拓展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A8891C-43E0-79B1-17AD-9813AF1C7BFB}"/>
              </a:ext>
            </a:extLst>
          </p:cNvPr>
          <p:cNvSpPr txBox="1"/>
          <p:nvPr/>
        </p:nvSpPr>
        <p:spPr>
          <a:xfrm>
            <a:off x="508000" y="3937000"/>
            <a:ext cx="1117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DengXian" panose="02010600030101010101" pitchFamily="2" charset="-122"/>
                <a:ea typeface="DengXian" panose="02010600030101010101" pitchFamily="2" charset="-122"/>
              </a:rPr>
              <a:t>等线：数据驱动决策，用 </a:t>
            </a:r>
            <a:r>
              <a:rPr lang="en-US" altLang="zh-CN" sz="2000">
                <a:latin typeface="DengXian" panose="02010600030101010101" pitchFamily="2" charset="-122"/>
                <a:ea typeface="DengXian" panose="02010600030101010101" pitchFamily="2" charset="-122"/>
              </a:rPr>
              <a:t>Python + SQL </a:t>
            </a:r>
            <a:r>
              <a:rPr lang="zh-CN" altLang="en-US" sz="2000">
                <a:latin typeface="DengXian" panose="02010600030101010101" pitchFamily="2" charset="-122"/>
                <a:ea typeface="DengXian" panose="02010600030101010101" pitchFamily="2" charset="-122"/>
              </a:rPr>
              <a:t>搭建 </a:t>
            </a:r>
            <a:r>
              <a:rPr lang="en-US" altLang="zh-CN" sz="2000">
                <a:latin typeface="DengXian" panose="02010600030101010101" pitchFamily="2" charset="-122"/>
                <a:ea typeface="DengXian" panose="02010600030101010101" pitchFamily="2" charset="-122"/>
              </a:rPr>
              <a:t>BI </a:t>
            </a:r>
            <a:r>
              <a:rPr lang="zh-CN" altLang="en-US" sz="2000">
                <a:latin typeface="DengXian" panose="02010600030101010101" pitchFamily="2" charset="-122"/>
                <a:ea typeface="DengXian" panose="02010600030101010101" pitchFamily="2" charset="-122"/>
              </a:rPr>
              <a:t>看板，每日 </a:t>
            </a:r>
            <a:r>
              <a:rPr lang="en-US" altLang="zh-CN" sz="2000">
                <a:latin typeface="DengXian" panose="02010600030101010101" pitchFamily="2" charset="-122"/>
                <a:ea typeface="DengXian" panose="02010600030101010101" pitchFamily="2" charset="-122"/>
              </a:rPr>
              <a:t>08:30 </a:t>
            </a:r>
            <a:r>
              <a:rPr lang="zh-CN" altLang="en-US" sz="2000">
                <a:latin typeface="DengXian" panose="02010600030101010101" pitchFamily="2" charset="-122"/>
                <a:ea typeface="DengXian" panose="02010600030101010101" pitchFamily="2" charset="-122"/>
              </a:rPr>
              <a:t>自动推送。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1D0761C-F0C7-86EB-2E48-CD16B7C2B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171808"/>
              </p:ext>
            </p:extLst>
          </p:nvPr>
        </p:nvGraphicFramePr>
        <p:xfrm>
          <a:off x="508000" y="4953000"/>
          <a:ext cx="11176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55861665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64162414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71708475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6886154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营收（万元）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57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12,580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+21.3%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Top 1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24647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9,860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+25.7%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增长最快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867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西北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2,130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-3.2%</a:t>
                      </a:r>
                      <a:endParaRPr lang="zh-CN" altLang="en-US" sz="16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需关注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41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34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B26355-6CE1-2C53-65DB-74551ACE598C}"/>
              </a:ext>
            </a:extLst>
          </p:cNvPr>
          <p:cNvSpPr txBox="1"/>
          <p:nvPr/>
        </p:nvSpPr>
        <p:spPr>
          <a:xfrm>
            <a:off x="508000" y="254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宋体标题示例</a:t>
            </a:r>
          </a:p>
          <a:p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学而时习之，不亦说乎？有朋自远方来，不亦乐乎？人不知而不愠，不亦君子乎？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2024 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年第 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3 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课，共 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45 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分钟。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BE3E06-707C-F633-8316-F0336F5CB910}"/>
              </a:ext>
            </a:extLst>
          </p:cNvPr>
          <p:cNvSpPr txBox="1"/>
          <p:nvPr/>
        </p:nvSpPr>
        <p:spPr>
          <a:xfrm>
            <a:off x="6223000" y="254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KaiTi" panose="02010609060101010101" pitchFamily="49" charset="-122"/>
                <a:ea typeface="KaiTi" panose="02010609060101010101" pitchFamily="49" charset="-122"/>
              </a:rPr>
              <a:t>楷体标题示例</a:t>
            </a:r>
          </a:p>
          <a:p>
            <a:r>
              <a:rPr lang="zh-CN" altLang="en-US" sz="2000">
                <a:latin typeface="KaiTi" panose="02010609060101010101" pitchFamily="49" charset="-122"/>
                <a:ea typeface="KaiTi" panose="02010609060101010101" pitchFamily="49" charset="-122"/>
              </a:rPr>
              <a:t>学而时习之，不亦说乎？有朋自远方来，不亦乐乎？人不知而不愠，不亦君子乎？</a:t>
            </a:r>
            <a:r>
              <a:rPr lang="en-US" altLang="zh-CN" sz="2000">
                <a:latin typeface="KaiTi" panose="02010609060101010101" pitchFamily="49" charset="-122"/>
                <a:ea typeface="KaiTi" panose="02010609060101010101" pitchFamily="49" charset="-122"/>
              </a:rPr>
              <a:t>2024 </a:t>
            </a:r>
            <a:r>
              <a:rPr lang="zh-CN" altLang="en-US" sz="2000">
                <a:latin typeface="KaiTi" panose="02010609060101010101" pitchFamily="49" charset="-122"/>
                <a:ea typeface="KaiTi" panose="02010609060101010101" pitchFamily="49" charset="-122"/>
              </a:rPr>
              <a:t>年第 </a:t>
            </a:r>
            <a:r>
              <a:rPr lang="en-US" altLang="zh-CN" sz="2000">
                <a:latin typeface="KaiTi" panose="02010609060101010101" pitchFamily="49" charset="-122"/>
                <a:ea typeface="KaiTi" panose="02010609060101010101" pitchFamily="49" charset="-122"/>
              </a:rPr>
              <a:t>3 </a:t>
            </a:r>
            <a:r>
              <a:rPr lang="zh-CN" altLang="en-US" sz="2000">
                <a:latin typeface="KaiTi" panose="02010609060101010101" pitchFamily="49" charset="-122"/>
                <a:ea typeface="KaiTi" panose="02010609060101010101" pitchFamily="49" charset="-122"/>
              </a:rPr>
              <a:t>课，共 </a:t>
            </a:r>
            <a:r>
              <a:rPr lang="en-US" altLang="zh-CN" sz="2000">
                <a:latin typeface="KaiTi" panose="02010609060101010101" pitchFamily="49" charset="-122"/>
                <a:ea typeface="KaiTi" panose="02010609060101010101" pitchFamily="49" charset="-122"/>
              </a:rPr>
              <a:t>45 </a:t>
            </a:r>
            <a:r>
              <a:rPr lang="zh-CN" altLang="en-US" sz="2000">
                <a:latin typeface="KaiTi" panose="02010609060101010101" pitchFamily="49" charset="-122"/>
                <a:ea typeface="KaiTi" panose="02010609060101010101" pitchFamily="49" charset="-122"/>
              </a:rPr>
              <a:t>分钟。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30EA4C-1460-F589-1F27-5CBDAE827DFA}"/>
              </a:ext>
            </a:extLst>
          </p:cNvPr>
          <p:cNvSpPr txBox="1"/>
          <p:nvPr/>
        </p:nvSpPr>
        <p:spPr>
          <a:xfrm>
            <a:off x="508000" y="3556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FangSong" panose="02010609060101010101" pitchFamily="49" charset="-122"/>
                <a:ea typeface="FangSong" panose="02010609060101010101" pitchFamily="49" charset="-122"/>
              </a:rPr>
              <a:t>仿宋标题示例</a:t>
            </a:r>
          </a:p>
          <a:p>
            <a:r>
              <a:rPr lang="zh-CN" altLang="en-US" sz="2000">
                <a:latin typeface="FangSong" panose="02010609060101010101" pitchFamily="49" charset="-122"/>
                <a:ea typeface="FangSong" panose="02010609060101010101" pitchFamily="49" charset="-122"/>
              </a:rPr>
              <a:t>学而时习之，不亦说乎？有朋自远方来，不亦乐乎？人不知而不愠，不亦君子乎？</a:t>
            </a:r>
            <a:r>
              <a:rPr lang="en-US" altLang="zh-CN" sz="2000">
                <a:latin typeface="FangSong" panose="02010609060101010101" pitchFamily="49" charset="-122"/>
                <a:ea typeface="FangSong" panose="02010609060101010101" pitchFamily="49" charset="-122"/>
              </a:rPr>
              <a:t>2024 </a:t>
            </a:r>
            <a:r>
              <a:rPr lang="zh-CN" altLang="en-US" sz="2000">
                <a:latin typeface="FangSong" panose="02010609060101010101" pitchFamily="49" charset="-122"/>
                <a:ea typeface="FangSong" panose="02010609060101010101" pitchFamily="49" charset="-122"/>
              </a:rPr>
              <a:t>年第 </a:t>
            </a:r>
            <a:r>
              <a:rPr lang="en-US" altLang="zh-CN" sz="2000">
                <a:latin typeface="FangSong" panose="02010609060101010101" pitchFamily="49" charset="-122"/>
                <a:ea typeface="FangSong" panose="02010609060101010101" pitchFamily="49" charset="-122"/>
              </a:rPr>
              <a:t>3 </a:t>
            </a:r>
            <a:r>
              <a:rPr lang="zh-CN" altLang="en-US" sz="2000">
                <a:latin typeface="FangSong" panose="02010609060101010101" pitchFamily="49" charset="-122"/>
                <a:ea typeface="FangSong" panose="02010609060101010101" pitchFamily="49" charset="-122"/>
              </a:rPr>
              <a:t>课，共 </a:t>
            </a:r>
            <a:r>
              <a:rPr lang="en-US" altLang="zh-CN" sz="2000">
                <a:latin typeface="FangSong" panose="02010609060101010101" pitchFamily="49" charset="-122"/>
                <a:ea typeface="FangSong" panose="02010609060101010101" pitchFamily="49" charset="-122"/>
              </a:rPr>
              <a:t>45 </a:t>
            </a:r>
            <a:r>
              <a:rPr lang="zh-CN" altLang="en-US" sz="2000">
                <a:latin typeface="FangSong" panose="02010609060101010101" pitchFamily="49" charset="-122"/>
                <a:ea typeface="FangSong" panose="02010609060101010101" pitchFamily="49" charset="-122"/>
              </a:rPr>
              <a:t>分钟。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0134F3-F192-FE5C-E1A4-AC5A5666FFA1}"/>
              </a:ext>
            </a:extLst>
          </p:cNvPr>
          <p:cNvSpPr txBox="1"/>
          <p:nvPr/>
        </p:nvSpPr>
        <p:spPr>
          <a:xfrm>
            <a:off x="6223000" y="3556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黑体标题示例</a:t>
            </a:r>
          </a:p>
          <a:p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学而时习之，不亦说乎？有朋自远方来，不亦乐乎？人不知而不愠，不亦君子乎？</a:t>
            </a:r>
            <a:r>
              <a:rPr lang="en-US" altLang="zh-CN" sz="2000">
                <a:latin typeface="SimHei" panose="02010609060101010101" pitchFamily="49" charset="-122"/>
                <a:ea typeface="SimHei" panose="02010609060101010101" pitchFamily="49" charset="-122"/>
              </a:rPr>
              <a:t>2024 </a:t>
            </a:r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年第 </a:t>
            </a:r>
            <a:r>
              <a:rPr lang="en-US" altLang="zh-CN" sz="2000">
                <a:latin typeface="SimHei" panose="02010609060101010101" pitchFamily="49" charset="-122"/>
                <a:ea typeface="SimHei" panose="02010609060101010101" pitchFamily="49" charset="-122"/>
              </a:rPr>
              <a:t>3 </a:t>
            </a:r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课，共 </a:t>
            </a:r>
            <a:r>
              <a:rPr lang="en-US" altLang="zh-CN" sz="2000">
                <a:latin typeface="SimHei" panose="02010609060101010101" pitchFamily="49" charset="-122"/>
                <a:ea typeface="SimHei" panose="02010609060101010101" pitchFamily="49" charset="-122"/>
              </a:rPr>
              <a:t>45 </a:t>
            </a:r>
            <a:r>
              <a:rPr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分钟。</a:t>
            </a:r>
          </a:p>
        </p:txBody>
      </p:sp>
    </p:spTree>
    <p:extLst>
      <p:ext uri="{BB962C8B-B14F-4D97-AF65-F5344CB8AC3E}">
        <p14:creationId xmlns:p14="http://schemas.microsoft.com/office/powerpoint/2010/main" val="3846956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71CB76-F550-8631-C917-967981B5B57F}"/>
              </a:ext>
            </a:extLst>
          </p:cNvPr>
          <p:cNvSpPr txBox="1"/>
          <p:nvPr/>
        </p:nvSpPr>
        <p:spPr>
          <a:xfrm>
            <a:off x="508000" y="254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 sz="2000">
                <a:latin typeface="Calibri" panose="020F0502020204030204" pitchFamily="34" charset="0"/>
                <a:ea typeface="Calibri" panose="020F0502020204030204" pitchFamily="34" charset="0"/>
              </a:rPr>
              <a:t>Calibri Heading</a:t>
            </a:r>
          </a:p>
          <a:p>
            <a:r>
              <a:rPr lang="en-US" altLang="zh-CN" sz="2000">
                <a:latin typeface="Calibri" panose="020F0502020204030204" pitchFamily="34" charset="0"/>
                <a:ea typeface="Calibri" panose="020F0502020204030204" pitchFamily="34" charset="0"/>
              </a:rPr>
              <a:t>The quick brown fox jumps over the lazy dog. Revenue grew 18.6% year over year, reaching $12.58M in Q3 2024 (AVATAR, WAVE, Typography).</a:t>
            </a:r>
            <a:endParaRPr lang="zh-CN" altLang="en-US" sz="2000">
              <a:latin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DB7081-FF0E-B067-0F89-735AC60DB552}"/>
              </a:ext>
            </a:extLst>
          </p:cNvPr>
          <p:cNvSpPr txBox="1"/>
          <p:nvPr/>
        </p:nvSpPr>
        <p:spPr>
          <a:xfrm>
            <a:off x="6223000" y="254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 sz="2000">
                <a:latin typeface="Arial" panose="020B0604020202020204" pitchFamily="34" charset="0"/>
              </a:rPr>
              <a:t>Arial Heading</a:t>
            </a:r>
          </a:p>
          <a:p>
            <a:r>
              <a:rPr lang="en-US" altLang="zh-CN" sz="2000">
                <a:latin typeface="Arial" panose="020B0604020202020204" pitchFamily="34" charset="0"/>
              </a:rPr>
              <a:t>The quick brown fox jumps over the lazy dog. Revenue grew 18.6% year over year, reaching $12.58M in Q3 2024 (AVATAR, WAVE, Typography).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0C697D-F460-1819-20DD-11F7F5FC4563}"/>
              </a:ext>
            </a:extLst>
          </p:cNvPr>
          <p:cNvSpPr txBox="1"/>
          <p:nvPr/>
        </p:nvSpPr>
        <p:spPr>
          <a:xfrm>
            <a:off x="508000" y="3556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 sz="2000">
                <a:latin typeface="Times New Roman" panose="02020603050405020304" pitchFamily="18" charset="0"/>
              </a:rPr>
              <a:t>Times New Roman Heading</a:t>
            </a:r>
          </a:p>
          <a:p>
            <a:r>
              <a:rPr lang="en-US" altLang="zh-CN" sz="2000">
                <a:latin typeface="Times New Roman" panose="02020603050405020304" pitchFamily="18" charset="0"/>
              </a:rPr>
              <a:t>The quick brown fox jumps over the lazy dog. Revenue grew 18.6% year over year, reaching $12.58M in Q3 2024 (AVATAR, WAVE, Typography).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9F1878-6EFA-10E1-7969-9BDC2A58FC1A}"/>
              </a:ext>
            </a:extLst>
          </p:cNvPr>
          <p:cNvSpPr txBox="1"/>
          <p:nvPr/>
        </p:nvSpPr>
        <p:spPr>
          <a:xfrm>
            <a:off x="6223000" y="3556000"/>
            <a:ext cx="5461000" cy="3048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en-US" altLang="zh-CN" sz="2000">
                <a:latin typeface="Cambria" panose="02040503050406030204" pitchFamily="18" charset="0"/>
                <a:ea typeface="Cambria" panose="02040503050406030204" pitchFamily="18" charset="0"/>
              </a:rPr>
              <a:t>Cambria Heading</a:t>
            </a:r>
          </a:p>
          <a:p>
            <a:r>
              <a:rPr lang="en-US" altLang="zh-CN" sz="2000">
                <a:latin typeface="Cambria" panose="02040503050406030204" pitchFamily="18" charset="0"/>
                <a:ea typeface="Cambria" panose="02040503050406030204" pitchFamily="18" charset="0"/>
              </a:rPr>
              <a:t>The quick brown fox jumps over the lazy dog. Revenue grew 18.6% year over year, reaching $12.58M in Q3 2024 (AVATAR, WAVE, Typography).</a:t>
            </a:r>
            <a:endParaRPr lang="zh-CN" altLang="en-US" sz="20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0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自定义</PresentationFormat>
  <Paragraphs>39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等线</vt:lpstr>
      <vt:lpstr>等线</vt:lpstr>
      <vt:lpstr>等线 Light</vt:lpstr>
      <vt:lpstr>FangSong</vt:lpstr>
      <vt:lpstr>SimHei</vt:lpstr>
      <vt:lpstr>KaiTi</vt:lpstr>
      <vt:lpstr>SimSun</vt:lpstr>
      <vt:lpstr>Microsoft YaHei</vt:lpstr>
      <vt:lpstr>Arial</vt:lpstr>
      <vt:lpstr>Calibri</vt:lpstr>
      <vt:lpstr>Cambria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2026-10-22T07:07:24Z</dcterms:created>
  <dcterms:modified xsi:type="dcterms:W3CDTF">2026-10-22T07:07:24Z</dcterms:modified>
</cp:coreProperties>
</file>